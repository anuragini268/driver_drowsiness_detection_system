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4" r:id="rId5"/>
    <p:sldId id="260" r:id="rId6"/>
    <p:sldId id="267" r:id="rId7"/>
    <p:sldId id="265" r:id="rId8"/>
    <p:sldId id="269" r:id="rId9"/>
    <p:sldId id="263" r:id="rId10"/>
    <p:sldId id="266" r:id="rId11"/>
    <p:sldId id="270"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5C7DC5-0E4D-4DC2-B1C2-FE3869C1B01C}" v="51" dt="2026-06-29T18:30:58.1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9T17:15:18.630"/>
    </inkml:context>
    <inkml:brush xml:id="br0">
      <inkml:brushProperty name="width" value="0.5" units="cm"/>
      <inkml:brushProperty name="height" value="1" units="cm"/>
      <inkml:brushProperty name="color" value="#F2F2F2"/>
      <inkml:brushProperty name="tip" value="rectangle"/>
      <inkml:brushProperty name="rasterOp" value="maskPen"/>
      <inkml:brushProperty name="ignorePressure" value="1"/>
    </inkml:brush>
  </inkml:definitions>
  <inkml:trace contextRef="#ctx0" brushRef="#br0">0 11,'0'-5,"0"-1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9T17:15:21.942"/>
    </inkml:context>
    <inkml:brush xml:id="br0">
      <inkml:brushProperty name="width" value="0.5" units="cm"/>
      <inkml:brushProperty name="height" value="1" units="cm"/>
      <inkml:brushProperty name="color" value="#F2F2F2"/>
      <inkml:brushProperty name="tip" value="rectangle"/>
      <inkml:brushProperty name="rasterOp" value="maskPen"/>
      <inkml:brushProperty name="ignorePressure" value="1"/>
    </inkml:brush>
  </inkml:definitions>
  <inkml:trace contextRef="#ctx0" brushRef="#br0">0 1,'5'0,"1"0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9E874-3BED-E5AE-94BD-DAF3024A41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407E646-C7AB-13F7-1334-2697FE6971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3E767F-6476-A328-0941-F1F6A9C9FE65}"/>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5" name="Footer Placeholder 4">
            <a:extLst>
              <a:ext uri="{FF2B5EF4-FFF2-40B4-BE49-F238E27FC236}">
                <a16:creationId xmlns:a16="http://schemas.microsoft.com/office/drawing/2014/main" id="{48AF7910-54EE-62B4-53F0-C3127D986F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5BD4C6-75DC-2064-2432-E02329342D07}"/>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296581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67351-6DD1-4722-CAF9-54FC299A3A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BC74AB-7701-4D77-E4A0-4257337815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9D3480-897F-115D-0DFE-846994450458}"/>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5" name="Footer Placeholder 4">
            <a:extLst>
              <a:ext uri="{FF2B5EF4-FFF2-40B4-BE49-F238E27FC236}">
                <a16:creationId xmlns:a16="http://schemas.microsoft.com/office/drawing/2014/main" id="{3C06EC68-7186-6974-32B6-E364611B04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F5BEBD-E1CC-8EF4-6725-9A7C246A072A}"/>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574787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D6F91-96BF-653F-7F50-288D2FB18B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B136D5A-A890-C3A8-2A4C-5DE5F1B305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70BB5F-C7E0-C64D-ECE8-C6AA1121AB34}"/>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5" name="Footer Placeholder 4">
            <a:extLst>
              <a:ext uri="{FF2B5EF4-FFF2-40B4-BE49-F238E27FC236}">
                <a16:creationId xmlns:a16="http://schemas.microsoft.com/office/drawing/2014/main" id="{07B42660-E988-FEF9-002E-7EC234A8EB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9F9C4A-88B0-84A7-20AA-15515A6A88AD}"/>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1201083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2FEAE-5FD1-1074-AE18-45CF64BA3D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2EB953-0A4B-996A-7EF8-77BF313CB4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A13E28-32FB-6238-1E5C-59D5BEC148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F937D3-DBEC-6860-6A8D-687326F535CC}"/>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6" name="Footer Placeholder 5">
            <a:extLst>
              <a:ext uri="{FF2B5EF4-FFF2-40B4-BE49-F238E27FC236}">
                <a16:creationId xmlns:a16="http://schemas.microsoft.com/office/drawing/2014/main" id="{F70B0EC6-61C8-051B-0A37-E1B803A868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5A3867-4559-8648-8605-31055E6DA911}"/>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3228611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87F0C-8767-CD31-F77F-2101E862E9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972D76-E09A-3FBA-2385-F7F11ADB65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25053A-121F-CAEC-373B-8D200F9ADC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D1801E-91B3-371D-DD76-144044C244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61747E-8061-F537-ADD9-7DDD692ACB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A50F519-AE57-B6FB-3C1C-E8228EDE6518}"/>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8" name="Footer Placeholder 7">
            <a:extLst>
              <a:ext uri="{FF2B5EF4-FFF2-40B4-BE49-F238E27FC236}">
                <a16:creationId xmlns:a16="http://schemas.microsoft.com/office/drawing/2014/main" id="{ADA46493-C602-7725-2F49-33AE2E641A8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E5D14D-18B2-5B4D-8D24-31E6EB0B3313}"/>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374713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3D84-7718-67D5-D27F-AAF80C912B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D792-713B-61F9-D865-EF4E7FEC5A35}"/>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4" name="Footer Placeholder 3">
            <a:extLst>
              <a:ext uri="{FF2B5EF4-FFF2-40B4-BE49-F238E27FC236}">
                <a16:creationId xmlns:a16="http://schemas.microsoft.com/office/drawing/2014/main" id="{77E336EC-284C-6764-AEE4-14E19735921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5F5291A-60E2-EE34-6BAE-3BB6028B1F1F}"/>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3329512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8911CA-B853-7CE7-A55C-6D14AE3F7360}"/>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3" name="Footer Placeholder 2">
            <a:extLst>
              <a:ext uri="{FF2B5EF4-FFF2-40B4-BE49-F238E27FC236}">
                <a16:creationId xmlns:a16="http://schemas.microsoft.com/office/drawing/2014/main" id="{55E49D7C-BB91-AB3C-A9F2-C0455173C0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7E23A4C-2089-FDC7-D841-557C0347D09B}"/>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2606021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25B7B-6706-DDC2-52EE-A6847154AC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0E62095-6FD5-8C65-FDF3-887520D392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87F971-7549-E394-E6B3-8C0E8A87A1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FF2784-8E08-E3C8-0656-6EBDF79C7D6F}"/>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6" name="Footer Placeholder 5">
            <a:extLst>
              <a:ext uri="{FF2B5EF4-FFF2-40B4-BE49-F238E27FC236}">
                <a16:creationId xmlns:a16="http://schemas.microsoft.com/office/drawing/2014/main" id="{CD2EC59C-00A3-F76D-DCC7-CEFBA8B7D6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331A6E-496A-C0D7-9EEF-2934EBB3EE3F}"/>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1744781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997CD-4F69-FEE1-E437-0F9044AF9A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B33D51-D6AC-7D0C-7687-998048DCBE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6B3D664-645F-5AE6-8629-4EC6F10590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B404B-62D9-C20A-95DD-BD30FDB73E0F}"/>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6" name="Footer Placeholder 5">
            <a:extLst>
              <a:ext uri="{FF2B5EF4-FFF2-40B4-BE49-F238E27FC236}">
                <a16:creationId xmlns:a16="http://schemas.microsoft.com/office/drawing/2014/main" id="{1F72BACD-BED7-F839-4673-31179A4A14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737DA4-4D57-8C81-F02F-51D7DF5EF756}"/>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3035033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F94BA-2BC4-DB23-B98D-7E2A871C2C7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23BE96-D573-6501-3CB4-D01C463629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64C21C-FB28-0AAE-9F7C-8B32367352FD}"/>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5" name="Footer Placeholder 4">
            <a:extLst>
              <a:ext uri="{FF2B5EF4-FFF2-40B4-BE49-F238E27FC236}">
                <a16:creationId xmlns:a16="http://schemas.microsoft.com/office/drawing/2014/main" id="{CE5BC30F-79D3-C677-8AAB-12069A5202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F2CF7C-7E9C-D063-A0FC-5F613CA105C3}"/>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2267651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327537-D0D2-F1EE-97A2-0152C801D2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12460A-8FF2-1255-0838-8CA0C6A7C6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F6FDB1-E121-F125-6C90-8AAF8F371019}"/>
              </a:ext>
            </a:extLst>
          </p:cNvPr>
          <p:cNvSpPr>
            <a:spLocks noGrp="1"/>
          </p:cNvSpPr>
          <p:nvPr>
            <p:ph type="dt" sz="half" idx="10"/>
          </p:nvPr>
        </p:nvSpPr>
        <p:spPr/>
        <p:txBody>
          <a:bodyPr/>
          <a:lstStyle/>
          <a:p>
            <a:fld id="{99F1AA31-8755-4352-8D83-693F1CD220D2}" type="datetimeFigureOut">
              <a:rPr lang="en-IN" smtClean="0"/>
              <a:t>30-06-2026</a:t>
            </a:fld>
            <a:endParaRPr lang="en-IN"/>
          </a:p>
        </p:txBody>
      </p:sp>
      <p:sp>
        <p:nvSpPr>
          <p:cNvPr id="5" name="Footer Placeholder 4">
            <a:extLst>
              <a:ext uri="{FF2B5EF4-FFF2-40B4-BE49-F238E27FC236}">
                <a16:creationId xmlns:a16="http://schemas.microsoft.com/office/drawing/2014/main" id="{B053D115-AB30-A2A4-C084-08241D0C36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0BB849-80F2-E4A0-5731-A8339ABEE98F}"/>
              </a:ext>
            </a:extLst>
          </p:cNvPr>
          <p:cNvSpPr>
            <a:spLocks noGrp="1"/>
          </p:cNvSpPr>
          <p:nvPr>
            <p:ph type="sldNum" sz="quarter" idx="12"/>
          </p:nvPr>
        </p:nvSpPr>
        <p:spPr/>
        <p:txBody>
          <a:bodyPr/>
          <a:lstStyle/>
          <a:p>
            <a:fld id="{0B83308D-57FB-4B99-AB1D-FBD05C80FD68}" type="slidenum">
              <a:rPr lang="en-IN" smtClean="0"/>
              <a:t>‹#›</a:t>
            </a:fld>
            <a:endParaRPr lang="en-IN"/>
          </a:p>
        </p:txBody>
      </p:sp>
    </p:spTree>
    <p:extLst>
      <p:ext uri="{BB962C8B-B14F-4D97-AF65-F5344CB8AC3E}">
        <p14:creationId xmlns:p14="http://schemas.microsoft.com/office/powerpoint/2010/main" val="3745540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880AB6-13FD-EA7A-DA0E-794EAB12BE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995D35-866E-5D33-1F55-D9B9734473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BA8F85-AFFF-0E71-0AFF-0F44926723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F1AA31-8755-4352-8D83-693F1CD220D2}" type="datetimeFigureOut">
              <a:rPr lang="en-IN" smtClean="0"/>
              <a:t>30-06-2026</a:t>
            </a:fld>
            <a:endParaRPr lang="en-IN"/>
          </a:p>
        </p:txBody>
      </p:sp>
      <p:sp>
        <p:nvSpPr>
          <p:cNvPr id="5" name="Footer Placeholder 4">
            <a:extLst>
              <a:ext uri="{FF2B5EF4-FFF2-40B4-BE49-F238E27FC236}">
                <a16:creationId xmlns:a16="http://schemas.microsoft.com/office/drawing/2014/main" id="{418E5202-A139-9D0F-1251-C93FF8162C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0FC031A-CC03-1060-7201-B524B6C547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83308D-57FB-4B99-AB1D-FBD05C80FD68}" type="slidenum">
              <a:rPr lang="en-IN" smtClean="0"/>
              <a:t>‹#›</a:t>
            </a:fld>
            <a:endParaRPr lang="en-IN"/>
          </a:p>
        </p:txBody>
      </p:sp>
    </p:spTree>
    <p:extLst>
      <p:ext uri="{BB962C8B-B14F-4D97-AF65-F5344CB8AC3E}">
        <p14:creationId xmlns:p14="http://schemas.microsoft.com/office/powerpoint/2010/main" val="402028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lue Powerpoint Background Images – Browse 3,858,132 Stock Photos, Vectors,  and Video | Adobe Stock">
            <a:extLst>
              <a:ext uri="{FF2B5EF4-FFF2-40B4-BE49-F238E27FC236}">
                <a16:creationId xmlns:a16="http://schemas.microsoft.com/office/drawing/2014/main" id="{47BED85B-46CA-FA82-45B5-67D6AD7B3198}"/>
              </a:ext>
            </a:extLst>
          </p:cNvPr>
          <p:cNvPicPr>
            <a:picLocks noChangeAspect="1"/>
          </p:cNvPicPr>
          <p:nvPr/>
        </p:nvPicPr>
        <p:blipFill>
          <a:blip r:embed="rId2"/>
          <a:stretch>
            <a:fillRect/>
          </a:stretch>
        </p:blipFill>
        <p:spPr>
          <a:xfrm>
            <a:off x="0" y="-247016"/>
            <a:ext cx="12192000" cy="7105015"/>
          </a:xfrm>
          <a:prstGeom prst="rect">
            <a:avLst/>
          </a:prstGeom>
        </p:spPr>
      </p:pic>
      <p:sp>
        <p:nvSpPr>
          <p:cNvPr id="2" name="Title 1">
            <a:extLst>
              <a:ext uri="{FF2B5EF4-FFF2-40B4-BE49-F238E27FC236}">
                <a16:creationId xmlns:a16="http://schemas.microsoft.com/office/drawing/2014/main" id="{08E7B7E2-1640-B48E-EBE3-A5FF35E33918}"/>
              </a:ext>
            </a:extLst>
          </p:cNvPr>
          <p:cNvSpPr>
            <a:spLocks noGrp="1"/>
          </p:cNvSpPr>
          <p:nvPr>
            <p:ph type="ctrTitle"/>
          </p:nvPr>
        </p:nvSpPr>
        <p:spPr>
          <a:xfrm>
            <a:off x="1524000" y="406400"/>
            <a:ext cx="9144000" cy="2387600"/>
          </a:xfrm>
        </p:spPr>
        <p:txBody>
          <a:bodyPr>
            <a:normAutofit/>
          </a:bodyPr>
          <a:lstStyle/>
          <a:p>
            <a:r>
              <a:rPr lang="en-IN" sz="4800" dirty="0">
                <a:solidFill>
                  <a:schemeClr val="bg2">
                    <a:lumMod val="75000"/>
                  </a:schemeClr>
                </a:solidFill>
                <a:latin typeface="Book Antiqua" panose="02040602050305030304" pitchFamily="18" charset="0"/>
              </a:rPr>
              <a:t>Driver Drowsiness Detection System</a:t>
            </a:r>
          </a:p>
        </p:txBody>
      </p:sp>
      <p:sp>
        <p:nvSpPr>
          <p:cNvPr id="3" name="Subtitle 2">
            <a:extLst>
              <a:ext uri="{FF2B5EF4-FFF2-40B4-BE49-F238E27FC236}">
                <a16:creationId xmlns:a16="http://schemas.microsoft.com/office/drawing/2014/main" id="{E2A74AA2-0A34-FD56-C0AD-E19413328559}"/>
              </a:ext>
            </a:extLst>
          </p:cNvPr>
          <p:cNvSpPr>
            <a:spLocks noGrp="1"/>
          </p:cNvSpPr>
          <p:nvPr>
            <p:ph type="subTitle" idx="1"/>
          </p:nvPr>
        </p:nvSpPr>
        <p:spPr>
          <a:xfrm>
            <a:off x="1288025" y="3342968"/>
            <a:ext cx="9144000" cy="1374058"/>
          </a:xfrm>
        </p:spPr>
        <p:txBody>
          <a:bodyPr>
            <a:normAutofit/>
          </a:bodyPr>
          <a:lstStyle/>
          <a:p>
            <a:r>
              <a:rPr lang="en-IN" sz="3000" dirty="0">
                <a:solidFill>
                  <a:schemeClr val="bg2">
                    <a:lumMod val="90000"/>
                  </a:schemeClr>
                </a:solidFill>
                <a:latin typeface="Calibri" panose="020F0502020204030204" pitchFamily="34" charset="0"/>
                <a:ea typeface="Calibri" panose="020F0502020204030204" pitchFamily="34" charset="0"/>
                <a:cs typeface="Calibri" panose="020F0502020204030204" pitchFamily="34" charset="0"/>
              </a:rPr>
              <a:t>Using Data Science, Machine Learning and </a:t>
            </a:r>
          </a:p>
          <a:p>
            <a:r>
              <a:rPr lang="en-IN" sz="3000" dirty="0">
                <a:solidFill>
                  <a:schemeClr val="bg2">
                    <a:lumMod val="90000"/>
                  </a:schemeClr>
                </a:solidFill>
                <a:latin typeface="Calibri" panose="020F0502020204030204" pitchFamily="34" charset="0"/>
                <a:ea typeface="Calibri" panose="020F0502020204030204" pitchFamily="34" charset="0"/>
                <a:cs typeface="Calibri" panose="020F0502020204030204" pitchFamily="34" charset="0"/>
              </a:rPr>
              <a:t>Artificial Intelligence</a:t>
            </a:r>
          </a:p>
        </p:txBody>
      </p:sp>
      <p:sp>
        <p:nvSpPr>
          <p:cNvPr id="4" name="TextBox 3">
            <a:extLst>
              <a:ext uri="{FF2B5EF4-FFF2-40B4-BE49-F238E27FC236}">
                <a16:creationId xmlns:a16="http://schemas.microsoft.com/office/drawing/2014/main" id="{74AC5410-ECDB-7668-E952-59CAD22CA577}"/>
              </a:ext>
            </a:extLst>
          </p:cNvPr>
          <p:cNvSpPr txBox="1"/>
          <p:nvPr/>
        </p:nvSpPr>
        <p:spPr>
          <a:xfrm flipH="1">
            <a:off x="8119364" y="5093109"/>
            <a:ext cx="3826830" cy="923330"/>
          </a:xfrm>
          <a:prstGeom prst="rect">
            <a:avLst/>
          </a:prstGeom>
          <a:noFill/>
        </p:spPr>
        <p:txBody>
          <a:bodyPr wrap="square" rtlCol="0">
            <a:spAutoFit/>
          </a:bodyPr>
          <a:lstStyle/>
          <a:p>
            <a:r>
              <a:rPr lang="en-IN" dirty="0">
                <a:solidFill>
                  <a:srgbClr val="FF9900"/>
                </a:solidFill>
              </a:rPr>
              <a:t>Presented By :</a:t>
            </a:r>
          </a:p>
          <a:p>
            <a:r>
              <a:rPr lang="en-IN" dirty="0">
                <a:solidFill>
                  <a:srgbClr val="FF9900"/>
                </a:solidFill>
              </a:rPr>
              <a:t>                    </a:t>
            </a:r>
            <a:r>
              <a:rPr lang="en-IN" dirty="0" err="1">
                <a:solidFill>
                  <a:srgbClr val="FF9900"/>
                </a:solidFill>
              </a:rPr>
              <a:t>Anuragini.B</a:t>
            </a:r>
            <a:r>
              <a:rPr lang="en-IN" dirty="0">
                <a:solidFill>
                  <a:srgbClr val="FF9900"/>
                </a:solidFill>
              </a:rPr>
              <a:t> (Btech.IT)</a:t>
            </a:r>
          </a:p>
          <a:p>
            <a:r>
              <a:rPr lang="en-IN" dirty="0">
                <a:solidFill>
                  <a:srgbClr val="FF9900"/>
                </a:solidFill>
              </a:rPr>
              <a:t>                        </a:t>
            </a:r>
          </a:p>
        </p:txBody>
      </p:sp>
    </p:spTree>
    <p:extLst>
      <p:ext uri="{BB962C8B-B14F-4D97-AF65-F5344CB8AC3E}">
        <p14:creationId xmlns:p14="http://schemas.microsoft.com/office/powerpoint/2010/main" val="2109317962"/>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5B335D13-4F2A-B666-4A23-C927DC31B83A}"/>
              </a:ext>
            </a:extLst>
          </p:cNvPr>
          <p:cNvSpPr>
            <a:spLocks noGrp="1"/>
          </p:cNvSpPr>
          <p:nvPr>
            <p:ph type="title"/>
          </p:nvPr>
        </p:nvSpPr>
        <p:spPr>
          <a:xfrm>
            <a:off x="236957" y="1276216"/>
            <a:ext cx="4368602" cy="628360"/>
          </a:xfrm>
        </p:spPr>
        <p:txBody>
          <a:bodyPr anchor="b">
            <a:normAutofit/>
          </a:bodyPr>
          <a:lstStyle/>
          <a:p>
            <a:r>
              <a:rPr lang="en-IN" sz="3200" dirty="0">
                <a:latin typeface="Book Antiqua" panose="02040602050305030304" pitchFamily="18" charset="0"/>
              </a:rPr>
              <a:t>Introduction</a:t>
            </a:r>
          </a:p>
        </p:txBody>
      </p:sp>
      <p:pic>
        <p:nvPicPr>
          <p:cNvPr id="4" name="Picture 3" descr="Blue Powerpoint Background Images – Browse 3,858,132 Stock Photos, Vectors,  and Video | Adobe Stock">
            <a:extLst>
              <a:ext uri="{FF2B5EF4-FFF2-40B4-BE49-F238E27FC236}">
                <a16:creationId xmlns:a16="http://schemas.microsoft.com/office/drawing/2014/main" id="{94F78BB1-DDD5-4B24-0EA6-428F759EF160}"/>
              </a:ext>
            </a:extLst>
          </p:cNvPr>
          <p:cNvPicPr>
            <a:picLocks noChangeAspect="1"/>
          </p:cNvPicPr>
          <p:nvPr/>
        </p:nvPicPr>
        <p:blipFill>
          <a:blip r:embed="rId2"/>
          <a:srcRect l="37048" r="678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AE3FA02F-EB44-9F8B-24B3-F3A65D67205F}"/>
              </a:ext>
            </a:extLst>
          </p:cNvPr>
          <p:cNvSpPr txBox="1"/>
          <p:nvPr/>
        </p:nvSpPr>
        <p:spPr>
          <a:xfrm>
            <a:off x="5638800" y="2974258"/>
            <a:ext cx="914400" cy="914400"/>
          </a:xfrm>
          <a:prstGeom prst="rect">
            <a:avLst/>
          </a:prstGeom>
          <a:noFill/>
        </p:spPr>
        <p:txBody>
          <a:bodyPr wrap="square" rtlCol="0">
            <a:spAutoFit/>
          </a:bodyPr>
          <a:lstStyle/>
          <a:p>
            <a:endParaRPr lang="en-IN" dirty="0"/>
          </a:p>
        </p:txBody>
      </p:sp>
      <mc:AlternateContent xmlns:mc="http://schemas.openxmlformats.org/markup-compatibility/2006">
        <mc:Choice xmlns:p14="http://schemas.microsoft.com/office/powerpoint/2010/main" Requires="p14">
          <p:contentPart p14:bwMode="auto" r:id="rId3">
            <p14:nvContentPartPr>
              <p14:cNvPr id="25" name="Ink 24">
                <a:extLst>
                  <a:ext uri="{FF2B5EF4-FFF2-40B4-BE49-F238E27FC236}">
                    <a16:creationId xmlns:a16="http://schemas.microsoft.com/office/drawing/2014/main" id="{B07DB03A-5CF4-F757-ACE0-A20AC0F71586}"/>
                  </a:ext>
                </a:extLst>
              </p14:cNvPr>
              <p14:cNvContentPartPr/>
              <p14:nvPr/>
            </p14:nvContentPartPr>
            <p14:xfrm>
              <a:off x="-839063" y="4440342"/>
              <a:ext cx="360" cy="4320"/>
            </p14:xfrm>
          </p:contentPart>
        </mc:Choice>
        <mc:Fallback>
          <p:pic>
            <p:nvPicPr>
              <p:cNvPr id="25" name="Ink 24">
                <a:extLst>
                  <a:ext uri="{FF2B5EF4-FFF2-40B4-BE49-F238E27FC236}">
                    <a16:creationId xmlns:a16="http://schemas.microsoft.com/office/drawing/2014/main" id="{B07DB03A-5CF4-F757-ACE0-A20AC0F71586}"/>
                  </a:ext>
                </a:extLst>
              </p:cNvPr>
              <p:cNvPicPr/>
              <p:nvPr/>
            </p:nvPicPr>
            <p:blipFill>
              <a:blip r:embed="rId4"/>
              <a:stretch>
                <a:fillRect/>
              </a:stretch>
            </p:blipFill>
            <p:spPr>
              <a:xfrm>
                <a:off x="-929063" y="4260342"/>
                <a:ext cx="180000" cy="363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0" name="Ink 29">
                <a:extLst>
                  <a:ext uri="{FF2B5EF4-FFF2-40B4-BE49-F238E27FC236}">
                    <a16:creationId xmlns:a16="http://schemas.microsoft.com/office/drawing/2014/main" id="{F3EE0D28-F986-6B0D-47CB-39E657480122}"/>
                  </a:ext>
                </a:extLst>
              </p14:cNvPr>
              <p14:cNvContentPartPr/>
              <p14:nvPr/>
            </p14:nvContentPartPr>
            <p14:xfrm>
              <a:off x="13730737" y="0"/>
              <a:ext cx="4320" cy="360"/>
            </p14:xfrm>
          </p:contentPart>
        </mc:Choice>
        <mc:Fallback>
          <p:pic>
            <p:nvPicPr>
              <p:cNvPr id="30" name="Ink 29">
                <a:extLst>
                  <a:ext uri="{FF2B5EF4-FFF2-40B4-BE49-F238E27FC236}">
                    <a16:creationId xmlns:a16="http://schemas.microsoft.com/office/drawing/2014/main" id="{F3EE0D28-F986-6B0D-47CB-39E657480122}"/>
                  </a:ext>
                </a:extLst>
              </p:cNvPr>
              <p:cNvPicPr/>
              <p:nvPr/>
            </p:nvPicPr>
            <p:blipFill>
              <a:blip r:embed="rId6"/>
              <a:stretch>
                <a:fillRect/>
              </a:stretch>
            </p:blipFill>
            <p:spPr>
              <a:xfrm>
                <a:off x="13640737" y="-180000"/>
                <a:ext cx="183960" cy="360000"/>
              </a:xfrm>
              <a:prstGeom prst="rect">
                <a:avLst/>
              </a:prstGeom>
            </p:spPr>
          </p:pic>
        </mc:Fallback>
      </mc:AlternateContent>
      <p:sp>
        <p:nvSpPr>
          <p:cNvPr id="2" name="TextBox 1">
            <a:extLst>
              <a:ext uri="{FF2B5EF4-FFF2-40B4-BE49-F238E27FC236}">
                <a16:creationId xmlns:a16="http://schemas.microsoft.com/office/drawing/2014/main" id="{FC78FACE-B03E-B452-B53A-38B0F318BA44}"/>
              </a:ext>
            </a:extLst>
          </p:cNvPr>
          <p:cNvSpPr txBox="1"/>
          <p:nvPr/>
        </p:nvSpPr>
        <p:spPr>
          <a:xfrm>
            <a:off x="586346" y="2413337"/>
            <a:ext cx="4561807" cy="2031325"/>
          </a:xfrm>
          <a:prstGeom prst="rect">
            <a:avLst/>
          </a:prstGeom>
          <a:noFill/>
        </p:spPr>
        <p:txBody>
          <a:bodyPr wrap="square" rtlCol="0">
            <a:spAutoFit/>
          </a:bodyPr>
          <a:lstStyle/>
          <a:p>
            <a:r>
              <a:rPr lang="en-IN" dirty="0"/>
              <a:t>Nowadays, road accidents caused by driver fatigue are increasing. When a driver feels sleepy, their concentration and reaction time decrease, which can lead to serious accidents. This project aims to detect drowsiness in real time using a webcam and alert the driver before an accident occurs.</a:t>
            </a:r>
          </a:p>
        </p:txBody>
      </p:sp>
      <p:pic>
        <p:nvPicPr>
          <p:cNvPr id="3" name="Picture 2" descr="Driver Drowsiness Detection Alert System with Open-CV &amp; Keras Using IP-webCam For Camera Connection">
            <a:extLst>
              <a:ext uri="{FF2B5EF4-FFF2-40B4-BE49-F238E27FC236}">
                <a16:creationId xmlns:a16="http://schemas.microsoft.com/office/drawing/2014/main" id="{C985AF9E-C662-1D60-6846-60725CE9C5FF}"/>
              </a:ext>
            </a:extLst>
          </p:cNvPr>
          <p:cNvPicPr>
            <a:picLocks noChangeAspect="1"/>
          </p:cNvPicPr>
          <p:nvPr/>
        </p:nvPicPr>
        <p:blipFill>
          <a:blip r:embed="rId7"/>
          <a:stretch>
            <a:fillRect/>
          </a:stretch>
        </p:blipFill>
        <p:spPr>
          <a:xfrm>
            <a:off x="6331975" y="1743162"/>
            <a:ext cx="5162864" cy="2854266"/>
          </a:xfrm>
          <a:prstGeom prst="rect">
            <a:avLst/>
          </a:prstGeom>
        </p:spPr>
      </p:pic>
    </p:spTree>
    <p:extLst>
      <p:ext uri="{BB962C8B-B14F-4D97-AF65-F5344CB8AC3E}">
        <p14:creationId xmlns:p14="http://schemas.microsoft.com/office/powerpoint/2010/main" val="3932074372"/>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4E4D846-3AFC-4F86-8C35-24B0542A26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Blue Powerpoint Background Images – Browse 3,858,132 Stock Photos, Vectors,  and Video | Adobe Stock">
            <a:extLst>
              <a:ext uri="{FF2B5EF4-FFF2-40B4-BE49-F238E27FC236}">
                <a16:creationId xmlns:a16="http://schemas.microsoft.com/office/drawing/2014/main" id="{41A78899-06DD-7898-A3F7-8FB11357FDB1}"/>
              </a:ext>
            </a:extLst>
          </p:cNvPr>
          <p:cNvPicPr>
            <a:picLocks noChangeAspect="1"/>
          </p:cNvPicPr>
          <p:nvPr/>
        </p:nvPicPr>
        <p:blipFill>
          <a:blip r:embed="rId2"/>
          <a:srcRect l="29216"/>
          <a:stretch>
            <a:fillRect/>
          </a:stretch>
        </p:blipFill>
        <p:spPr>
          <a:xfrm>
            <a:off x="0" y="0"/>
            <a:ext cx="8668492" cy="6857990"/>
          </a:xfrm>
          <a:prstGeom prst="rect">
            <a:avLst/>
          </a:prstGeom>
        </p:spPr>
      </p:pic>
      <p:sp>
        <p:nvSpPr>
          <p:cNvPr id="15" name="Rectangle 14">
            <a:extLst>
              <a:ext uri="{FF2B5EF4-FFF2-40B4-BE49-F238E27FC236}">
                <a16:creationId xmlns:a16="http://schemas.microsoft.com/office/drawing/2014/main" id="{284781B9-12CB-45C3-907A-9ED93FF72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bg1"/>
              </a:gs>
              <a:gs pos="35000">
                <a:schemeClr val="bg1">
                  <a:alpha val="76000"/>
                </a:schemeClr>
              </a:gs>
              <a:gs pos="19000">
                <a:schemeClr val="bg1">
                  <a:alpha val="40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E2A94E6-99EB-1A13-8271-1DA8E2CA769D}"/>
              </a:ext>
            </a:extLst>
          </p:cNvPr>
          <p:cNvSpPr>
            <a:spLocks noGrp="1"/>
          </p:cNvSpPr>
          <p:nvPr>
            <p:ph type="title"/>
          </p:nvPr>
        </p:nvSpPr>
        <p:spPr>
          <a:xfrm>
            <a:off x="8343290" y="549230"/>
            <a:ext cx="3438144" cy="1102589"/>
          </a:xfrm>
        </p:spPr>
        <p:txBody>
          <a:bodyPr anchor="b">
            <a:normAutofit/>
          </a:bodyPr>
          <a:lstStyle/>
          <a:p>
            <a:r>
              <a:rPr lang="en-IN" sz="2800" b="1">
                <a:solidFill>
                  <a:schemeClr val="accent1"/>
                </a:solidFill>
                <a:latin typeface="Calibri Light" panose="020F0302020204030204" pitchFamily="34" charset="0"/>
                <a:ea typeface="Calibri Light" panose="020F0302020204030204" pitchFamily="34" charset="0"/>
                <a:cs typeface="Calibri Light" panose="020F0302020204030204" pitchFamily="34" charset="0"/>
              </a:rPr>
              <a:t>Problem Statement</a:t>
            </a:r>
            <a:endParaRPr lang="en-IN" sz="2800" b="1" dirty="0">
              <a:solidFill>
                <a:schemeClr val="accent1"/>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7" name="Rectangle 16">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92D24D4F-B05D-92A3-483A-77599A16F989}"/>
              </a:ext>
            </a:extLst>
          </p:cNvPr>
          <p:cNvSpPr>
            <a:spLocks noGrp="1"/>
          </p:cNvSpPr>
          <p:nvPr>
            <p:ph idx="1"/>
          </p:nvPr>
        </p:nvSpPr>
        <p:spPr>
          <a:xfrm>
            <a:off x="7444248" y="2883408"/>
            <a:ext cx="4227457" cy="2738520"/>
          </a:xfrm>
        </p:spPr>
        <p:txBody>
          <a:bodyPr anchor="t">
            <a:normAutofit/>
          </a:bodyPr>
          <a:lstStyle/>
          <a:p>
            <a:pPr marL="0" indent="0">
              <a:buNone/>
            </a:pPr>
            <a:r>
              <a:rPr lang="en-IN" sz="1800"/>
              <a:t>Many accidents happen because drivers continue driving even when they are tired. It is difficult to identify drowsiness manually while driving. Therefore, we developed a smart system that continuously monitors the driver's eyes and gives an alert if signs of drowsiness are detected.</a:t>
            </a:r>
          </a:p>
          <a:p>
            <a:pPr marL="0" indent="0">
              <a:buNone/>
            </a:pPr>
            <a:endParaRPr lang="en-US" sz="1700" dirty="0"/>
          </a:p>
        </p:txBody>
      </p:sp>
      <p:pic>
        <p:nvPicPr>
          <p:cNvPr id="9" name="Picture 8" descr="Drowsiness Detection">
            <a:extLst>
              <a:ext uri="{FF2B5EF4-FFF2-40B4-BE49-F238E27FC236}">
                <a16:creationId xmlns:a16="http://schemas.microsoft.com/office/drawing/2014/main" id="{0AF2E092-3200-EC44-07B9-0FC4695E794A}"/>
              </a:ext>
            </a:extLst>
          </p:cNvPr>
          <p:cNvPicPr>
            <a:picLocks noChangeAspect="1"/>
          </p:cNvPicPr>
          <p:nvPr/>
        </p:nvPicPr>
        <p:blipFill>
          <a:blip r:embed="rId3"/>
          <a:stretch>
            <a:fillRect/>
          </a:stretch>
        </p:blipFill>
        <p:spPr>
          <a:xfrm>
            <a:off x="0" y="1100524"/>
            <a:ext cx="4630921" cy="4382008"/>
          </a:xfrm>
          <a:prstGeom prst="rect">
            <a:avLst/>
          </a:prstGeom>
        </p:spPr>
      </p:pic>
    </p:spTree>
    <p:extLst>
      <p:ext uri="{BB962C8B-B14F-4D97-AF65-F5344CB8AC3E}">
        <p14:creationId xmlns:p14="http://schemas.microsoft.com/office/powerpoint/2010/main" val="2208637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BD0731-090D-DAC0-2E7C-457C8204543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Blue Powerpoint Background Images – Browse 3,858,132 Stock Photos, Vectors,  and Video | Adobe Stock">
            <a:extLst>
              <a:ext uri="{FF2B5EF4-FFF2-40B4-BE49-F238E27FC236}">
                <a16:creationId xmlns:a16="http://schemas.microsoft.com/office/drawing/2014/main" id="{1D82BDA7-8FA8-53F3-E47E-BCBFF3C8211E}"/>
              </a:ext>
            </a:extLst>
          </p:cNvPr>
          <p:cNvPicPr>
            <a:picLocks noChangeAspect="1"/>
          </p:cNvPicPr>
          <p:nvPr/>
        </p:nvPicPr>
        <p:blipFill>
          <a:blip r:embed="rId2"/>
          <a:srcRect l="18638" r="10578"/>
          <a:stretch>
            <a:fillRect/>
          </a:stretch>
        </p:blipFill>
        <p:spPr>
          <a:xfrm>
            <a:off x="3523486" y="0"/>
            <a:ext cx="8668512" cy="6857990"/>
          </a:xfrm>
          <a:prstGeom prst="rect">
            <a:avLst/>
          </a:prstGeom>
        </p:spPr>
      </p:pic>
      <p:sp>
        <p:nvSpPr>
          <p:cNvPr id="14" name="Rectangle 13">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ABB002E-520D-DADA-3822-85AC4F8C9CDF}"/>
              </a:ext>
            </a:extLst>
          </p:cNvPr>
          <p:cNvSpPr>
            <a:spLocks noGrp="1"/>
          </p:cNvSpPr>
          <p:nvPr>
            <p:ph type="title"/>
          </p:nvPr>
        </p:nvSpPr>
        <p:spPr>
          <a:xfrm>
            <a:off x="291084" y="1103757"/>
            <a:ext cx="3438144" cy="437005"/>
          </a:xfrm>
        </p:spPr>
        <p:txBody>
          <a:bodyPr anchor="b">
            <a:normAutofit fontScale="90000"/>
          </a:bodyPr>
          <a:lstStyle/>
          <a:p>
            <a:r>
              <a:rPr lang="en-IN" sz="2800" dirty="0">
                <a:latin typeface="Cambria" panose="02040503050406030204" pitchFamily="18" charset="0"/>
                <a:ea typeface="Cambria" panose="02040503050406030204" pitchFamily="18" charset="0"/>
              </a:rPr>
              <a:t>Objectives</a:t>
            </a:r>
          </a:p>
        </p:txBody>
      </p:sp>
      <p:sp>
        <p:nvSpPr>
          <p:cNvPr id="16" name="Rectangle 1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397DC134-E88A-A20B-00F1-D84675E01671}"/>
              </a:ext>
            </a:extLst>
          </p:cNvPr>
          <p:cNvSpPr>
            <a:spLocks noGrp="1"/>
          </p:cNvSpPr>
          <p:nvPr>
            <p:ph idx="1"/>
          </p:nvPr>
        </p:nvSpPr>
        <p:spPr>
          <a:xfrm>
            <a:off x="371094" y="2718054"/>
            <a:ext cx="4526026" cy="3207258"/>
          </a:xfrm>
        </p:spPr>
        <p:txBody>
          <a:bodyPr anchor="t">
            <a:normAutofit/>
          </a:bodyPr>
          <a:lstStyle/>
          <a:p>
            <a:r>
              <a:rPr lang="en-IN" sz="1800" dirty="0"/>
              <a:t>To detect driver drowsiness in real time. </a:t>
            </a:r>
          </a:p>
          <a:p>
            <a:r>
              <a:rPr lang="en-IN" sz="1800" dirty="0"/>
              <a:t>To monitor eye movements using a webcam. </a:t>
            </a:r>
          </a:p>
          <a:p>
            <a:r>
              <a:rPr lang="en-IN" sz="1800" dirty="0"/>
              <a:t>To provide an instant warning when the driver feels sleepy. </a:t>
            </a:r>
          </a:p>
          <a:p>
            <a:r>
              <a:rPr lang="en-IN" sz="1800" dirty="0"/>
              <a:t>To improve road safety and reduce accidents</a:t>
            </a:r>
            <a:endParaRPr lang="en-US" sz="1700" dirty="0"/>
          </a:p>
        </p:txBody>
      </p:sp>
      <p:pic>
        <p:nvPicPr>
          <p:cNvPr id="3" name="Picture 2" descr="Drowsiness Detection Systems: A Comprehensive Guide">
            <a:extLst>
              <a:ext uri="{FF2B5EF4-FFF2-40B4-BE49-F238E27FC236}">
                <a16:creationId xmlns:a16="http://schemas.microsoft.com/office/drawing/2014/main" id="{5F710437-BC84-CA9A-EE60-3E9E9DAB3EC5}"/>
              </a:ext>
            </a:extLst>
          </p:cNvPr>
          <p:cNvPicPr>
            <a:picLocks noChangeAspect="1"/>
          </p:cNvPicPr>
          <p:nvPr/>
        </p:nvPicPr>
        <p:blipFill>
          <a:blip r:embed="rId3"/>
          <a:stretch>
            <a:fillRect/>
          </a:stretch>
        </p:blipFill>
        <p:spPr>
          <a:xfrm>
            <a:off x="5220206" y="351615"/>
            <a:ext cx="3200400" cy="1800225"/>
          </a:xfrm>
          <a:prstGeom prst="rect">
            <a:avLst/>
          </a:prstGeom>
        </p:spPr>
      </p:pic>
      <p:pic>
        <p:nvPicPr>
          <p:cNvPr id="18" name="Picture 17" descr="Drowsy driving is a factor in 21% of fatal crashes | Sleep Foundation">
            <a:extLst>
              <a:ext uri="{FF2B5EF4-FFF2-40B4-BE49-F238E27FC236}">
                <a16:creationId xmlns:a16="http://schemas.microsoft.com/office/drawing/2014/main" id="{9DC487EE-BE36-D3BC-EC8C-1E92CE955892}"/>
              </a:ext>
            </a:extLst>
          </p:cNvPr>
          <p:cNvPicPr>
            <a:picLocks noChangeAspect="1"/>
          </p:cNvPicPr>
          <p:nvPr/>
        </p:nvPicPr>
        <p:blipFill>
          <a:blip r:embed="rId4"/>
          <a:stretch>
            <a:fillRect/>
          </a:stretch>
        </p:blipFill>
        <p:spPr>
          <a:xfrm>
            <a:off x="8813435" y="2051114"/>
            <a:ext cx="3238119" cy="2158746"/>
          </a:xfrm>
          <a:prstGeom prst="rect">
            <a:avLst/>
          </a:prstGeom>
        </p:spPr>
      </p:pic>
      <p:pic>
        <p:nvPicPr>
          <p:cNvPr id="20" name="Picture 19" descr="Warning Sign - Trendy Home Decor | Street Sign by ARTLIER">
            <a:extLst>
              <a:ext uri="{FF2B5EF4-FFF2-40B4-BE49-F238E27FC236}">
                <a16:creationId xmlns:a16="http://schemas.microsoft.com/office/drawing/2014/main" id="{70F37625-1762-6FD0-08DE-FF5CF92431A9}"/>
              </a:ext>
            </a:extLst>
          </p:cNvPr>
          <p:cNvPicPr>
            <a:picLocks noChangeAspect="1"/>
          </p:cNvPicPr>
          <p:nvPr/>
        </p:nvPicPr>
        <p:blipFill>
          <a:blip r:embed="rId5"/>
          <a:stretch>
            <a:fillRect/>
          </a:stretch>
        </p:blipFill>
        <p:spPr>
          <a:xfrm>
            <a:off x="5289949" y="3961209"/>
            <a:ext cx="3147823" cy="2545176"/>
          </a:xfrm>
          <a:prstGeom prst="rect">
            <a:avLst/>
          </a:prstGeom>
        </p:spPr>
      </p:pic>
    </p:spTree>
    <p:extLst>
      <p:ext uri="{BB962C8B-B14F-4D97-AF65-F5344CB8AC3E}">
        <p14:creationId xmlns:p14="http://schemas.microsoft.com/office/powerpoint/2010/main" val="3890024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8D8FC0-0A2E-C63C-CBC3-3691262E80FD}"/>
              </a:ext>
            </a:extLst>
          </p:cNvPr>
          <p:cNvSpPr>
            <a:spLocks noGrp="1"/>
          </p:cNvSpPr>
          <p:nvPr>
            <p:ph type="title"/>
          </p:nvPr>
        </p:nvSpPr>
        <p:spPr>
          <a:xfrm>
            <a:off x="193139" y="947336"/>
            <a:ext cx="4368602" cy="1017783"/>
          </a:xfrm>
        </p:spPr>
        <p:txBody>
          <a:bodyPr anchor="b">
            <a:normAutofit/>
          </a:bodyPr>
          <a:lstStyle/>
          <a:p>
            <a:r>
              <a:rPr lang="en-IN" sz="2800" b="1" dirty="0">
                <a:latin typeface="Book Antiqua" panose="02040602050305030304" pitchFamily="18" charset="0"/>
              </a:rPr>
              <a:t>Technologies Used</a:t>
            </a:r>
            <a:br>
              <a:rPr lang="en-IN" sz="2800" b="1" dirty="0">
                <a:latin typeface="Book Antiqua" panose="02040602050305030304" pitchFamily="18" charset="0"/>
              </a:rPr>
            </a:br>
            <a:endParaRPr lang="en-IN" sz="2800" dirty="0">
              <a:latin typeface="Book Antiqua" panose="02040602050305030304" pitchFamily="18" charset="0"/>
            </a:endParaRP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6F70C39-94C6-BC82-263F-61A4190DE1A2}"/>
              </a:ext>
            </a:extLst>
          </p:cNvPr>
          <p:cNvSpPr>
            <a:spLocks noGrp="1"/>
          </p:cNvSpPr>
          <p:nvPr>
            <p:ph idx="1"/>
          </p:nvPr>
        </p:nvSpPr>
        <p:spPr>
          <a:xfrm>
            <a:off x="765093" y="2915457"/>
            <a:ext cx="4243589" cy="3320668"/>
          </a:xfrm>
        </p:spPr>
        <p:txBody>
          <a:bodyPr>
            <a:normAutofit fontScale="62500" lnSpcReduction="20000"/>
          </a:bodyPr>
          <a:lstStyle/>
          <a:p>
            <a:pPr marL="0" indent="0">
              <a:buNone/>
            </a:pPr>
            <a:r>
              <a:rPr lang="en-IN" sz="2400" b="1" dirty="0">
                <a:latin typeface="Arial" panose="020B0604020202020204" pitchFamily="34" charset="0"/>
                <a:cs typeface="Arial" panose="020B0604020202020204" pitchFamily="34" charset="0"/>
              </a:rPr>
              <a:t>Programming Language</a:t>
            </a:r>
            <a:endParaRPr lang="en-IN" sz="2400"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Python </a:t>
            </a:r>
          </a:p>
          <a:p>
            <a:pPr marL="0" indent="0">
              <a:buNone/>
            </a:pPr>
            <a:r>
              <a:rPr lang="en-IN" sz="2400" b="1" dirty="0">
                <a:latin typeface="Arial" panose="020B0604020202020204" pitchFamily="34" charset="0"/>
                <a:cs typeface="Arial" panose="020B0604020202020204" pitchFamily="34" charset="0"/>
              </a:rPr>
              <a:t>Libraries</a:t>
            </a:r>
            <a:endParaRPr lang="en-IN" sz="2400"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OpenCV </a:t>
            </a:r>
          </a:p>
          <a:p>
            <a:r>
              <a:rPr lang="en-IN" sz="2400" dirty="0">
                <a:latin typeface="Arial" panose="020B0604020202020204" pitchFamily="34" charset="0"/>
                <a:cs typeface="Arial" panose="020B0604020202020204" pitchFamily="34" charset="0"/>
              </a:rPr>
              <a:t>Media Pipe </a:t>
            </a:r>
          </a:p>
          <a:p>
            <a:r>
              <a:rPr lang="en-IN" sz="2400" dirty="0">
                <a:latin typeface="Arial" panose="020B0604020202020204" pitchFamily="34" charset="0"/>
                <a:cs typeface="Arial" panose="020B0604020202020204" pitchFamily="34" charset="0"/>
              </a:rPr>
              <a:t>NumPy </a:t>
            </a:r>
          </a:p>
          <a:p>
            <a:r>
              <a:rPr lang="en-IN" sz="2400" dirty="0">
                <a:latin typeface="Arial" panose="020B0604020202020204" pitchFamily="34" charset="0"/>
                <a:cs typeface="Arial" panose="020B0604020202020204" pitchFamily="34" charset="0"/>
              </a:rPr>
              <a:t>Pandas </a:t>
            </a:r>
          </a:p>
          <a:p>
            <a:r>
              <a:rPr lang="en-IN" sz="2400" dirty="0">
                <a:latin typeface="Arial" panose="020B0604020202020204" pitchFamily="34" charset="0"/>
                <a:cs typeface="Arial" panose="020B0604020202020204" pitchFamily="34" charset="0"/>
              </a:rPr>
              <a:t>Scikit-learn </a:t>
            </a:r>
          </a:p>
          <a:p>
            <a:pPr marL="0" indent="0">
              <a:buNone/>
            </a:pPr>
            <a:r>
              <a:rPr lang="en-IN" sz="2400" b="1" dirty="0">
                <a:latin typeface="Arial" panose="020B0604020202020204" pitchFamily="34" charset="0"/>
                <a:cs typeface="Arial" panose="020B0604020202020204" pitchFamily="34" charset="0"/>
              </a:rPr>
              <a:t>Hardware</a:t>
            </a:r>
            <a:endParaRPr lang="en-IN" sz="2400"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Laptop/Desktop </a:t>
            </a:r>
          </a:p>
          <a:p>
            <a:r>
              <a:rPr lang="en-IN" sz="2400" dirty="0">
                <a:latin typeface="Arial" panose="020B0604020202020204" pitchFamily="34" charset="0"/>
                <a:cs typeface="Arial" panose="020B0604020202020204" pitchFamily="34" charset="0"/>
              </a:rPr>
              <a:t>Webcam</a:t>
            </a:r>
          </a:p>
          <a:p>
            <a:endParaRPr lang="en-IN" sz="2200" dirty="0"/>
          </a:p>
        </p:txBody>
      </p:sp>
      <p:pic>
        <p:nvPicPr>
          <p:cNvPr id="4" name="Picture 3" descr="Blue Powerpoint Background Images – Browse 3,858,132 Stock Photos, Vectors,  and Video | Adobe Stock">
            <a:extLst>
              <a:ext uri="{FF2B5EF4-FFF2-40B4-BE49-F238E27FC236}">
                <a16:creationId xmlns:a16="http://schemas.microsoft.com/office/drawing/2014/main" id="{395D0287-0210-796C-AF1F-ACD3488F710A}"/>
              </a:ext>
            </a:extLst>
          </p:cNvPr>
          <p:cNvPicPr>
            <a:picLocks noChangeAspect="1"/>
          </p:cNvPicPr>
          <p:nvPr/>
        </p:nvPicPr>
        <p:blipFill>
          <a:blip r:embed="rId2"/>
          <a:srcRect l="37048" r="678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5" name="Picture 4" descr="Python (programming language) - Wikipedia">
            <a:extLst>
              <a:ext uri="{FF2B5EF4-FFF2-40B4-BE49-F238E27FC236}">
                <a16:creationId xmlns:a16="http://schemas.microsoft.com/office/drawing/2014/main" id="{83C651A7-570F-173A-D829-ABF98B8F7395}"/>
              </a:ext>
            </a:extLst>
          </p:cNvPr>
          <p:cNvPicPr>
            <a:picLocks noChangeAspect="1"/>
          </p:cNvPicPr>
          <p:nvPr/>
        </p:nvPicPr>
        <p:blipFill>
          <a:blip r:embed="rId3"/>
          <a:stretch>
            <a:fillRect/>
          </a:stretch>
        </p:blipFill>
        <p:spPr>
          <a:xfrm>
            <a:off x="7450345" y="1183987"/>
            <a:ext cx="3696462" cy="3696462"/>
          </a:xfrm>
          <a:prstGeom prst="rect">
            <a:avLst/>
          </a:prstGeom>
        </p:spPr>
      </p:pic>
    </p:spTree>
    <p:extLst>
      <p:ext uri="{BB962C8B-B14F-4D97-AF65-F5344CB8AC3E}">
        <p14:creationId xmlns:p14="http://schemas.microsoft.com/office/powerpoint/2010/main" val="2284904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CE184-5BCD-76B7-7554-40F28FFE124A}"/>
            </a:ext>
          </a:extLst>
        </p:cNvPr>
        <p:cNvGrpSpPr/>
        <p:nvPr/>
      </p:nvGrpSpPr>
      <p:grpSpPr>
        <a:xfrm>
          <a:off x="0" y="0"/>
          <a:ext cx="0" cy="0"/>
          <a:chOff x="0" y="0"/>
          <a:chExt cx="0" cy="0"/>
        </a:xfrm>
      </p:grpSpPr>
      <p:pic>
        <p:nvPicPr>
          <p:cNvPr id="6" name="Content Placeholder 5" descr="Blue Powerpoint Background Images – Browse 3,858,132 Stock Photos, Vectors,  and Video | Adobe Stock">
            <a:extLst>
              <a:ext uri="{FF2B5EF4-FFF2-40B4-BE49-F238E27FC236}">
                <a16:creationId xmlns:a16="http://schemas.microsoft.com/office/drawing/2014/main" id="{7CAE4E63-B742-BF0F-B47D-A9F89EB3D9FC}"/>
              </a:ext>
            </a:extLst>
          </p:cNvPr>
          <p:cNvPicPr>
            <a:picLocks noChangeAspect="1"/>
          </p:cNvPicPr>
          <p:nvPr/>
        </p:nvPicPr>
        <p:blipFill>
          <a:blip r:embed="rId2"/>
          <a:srcRect l="18638" r="10578"/>
          <a:stretch>
            <a:fillRect/>
          </a:stretch>
        </p:blipFill>
        <p:spPr>
          <a:xfrm>
            <a:off x="5195455" y="10"/>
            <a:ext cx="6996545" cy="6857990"/>
          </a:xfrm>
          <a:prstGeom prst="rect">
            <a:avLst/>
          </a:prstGeom>
        </p:spPr>
      </p:pic>
      <p:sp>
        <p:nvSpPr>
          <p:cNvPr id="2" name="Title 1">
            <a:extLst>
              <a:ext uri="{FF2B5EF4-FFF2-40B4-BE49-F238E27FC236}">
                <a16:creationId xmlns:a16="http://schemas.microsoft.com/office/drawing/2014/main" id="{D1DDCC50-7790-516E-C6D8-269200F394E8}"/>
              </a:ext>
            </a:extLst>
          </p:cNvPr>
          <p:cNvSpPr>
            <a:spLocks noGrp="1"/>
          </p:cNvSpPr>
          <p:nvPr>
            <p:ph type="title"/>
          </p:nvPr>
        </p:nvSpPr>
        <p:spPr>
          <a:xfrm>
            <a:off x="278546" y="477982"/>
            <a:ext cx="3244942" cy="654627"/>
          </a:xfrm>
        </p:spPr>
        <p:txBody>
          <a:bodyPr anchor="b">
            <a:normAutofit/>
          </a:bodyPr>
          <a:lstStyle/>
          <a:p>
            <a:r>
              <a:rPr lang="en-IN" sz="2800" dirty="0"/>
              <a:t>Data Science</a:t>
            </a:r>
          </a:p>
        </p:txBody>
      </p:sp>
      <p:sp>
        <p:nvSpPr>
          <p:cNvPr id="10" name="Content Placeholder 9">
            <a:extLst>
              <a:ext uri="{FF2B5EF4-FFF2-40B4-BE49-F238E27FC236}">
                <a16:creationId xmlns:a16="http://schemas.microsoft.com/office/drawing/2014/main" id="{C758A4BE-D6DD-9EAD-C195-F661BBF50829}"/>
              </a:ext>
            </a:extLst>
          </p:cNvPr>
          <p:cNvSpPr>
            <a:spLocks noGrp="1"/>
          </p:cNvSpPr>
          <p:nvPr>
            <p:ph idx="1"/>
          </p:nvPr>
        </p:nvSpPr>
        <p:spPr>
          <a:xfrm>
            <a:off x="114300" y="2338647"/>
            <a:ext cx="4863869" cy="3891280"/>
          </a:xfrm>
        </p:spPr>
        <p:txBody>
          <a:bodyPr anchor="t">
            <a:normAutofit/>
          </a:bodyPr>
          <a:lstStyle/>
          <a:p>
            <a:pPr marL="0" indent="0">
              <a:buNone/>
            </a:pPr>
            <a:r>
              <a:rPr lang="en-IN" sz="1800" dirty="0"/>
              <a:t>In this project, Data Science is used to collect and  </a:t>
            </a:r>
            <a:r>
              <a:rPr lang="en-IN" sz="1800" dirty="0" err="1"/>
              <a:t>analyze</a:t>
            </a:r>
            <a:r>
              <a:rPr lang="en-IN" sz="1800" dirty="0"/>
              <a:t> data related to driver </a:t>
            </a:r>
            <a:r>
              <a:rPr lang="en-IN" sz="1800" dirty="0" err="1"/>
              <a:t>behavior</a:t>
            </a:r>
            <a:r>
              <a:rPr lang="en-IN" sz="1800" dirty="0"/>
              <a:t>. The dataset contains images of drivers with open and closed eyes. The data is cleaned, organized, and  </a:t>
            </a:r>
            <a:r>
              <a:rPr lang="en-IN" sz="1800" dirty="0" err="1"/>
              <a:t>analyzed</a:t>
            </a:r>
            <a:r>
              <a:rPr lang="en-IN" sz="1800" dirty="0"/>
              <a:t> before training the model.</a:t>
            </a:r>
            <a:endParaRPr lang="en-US" sz="1700" dirty="0"/>
          </a:p>
        </p:txBody>
      </p:sp>
      <p:sp>
        <p:nvSpPr>
          <p:cNvPr id="3" name="Flowchart: Stored Data 2">
            <a:extLst>
              <a:ext uri="{FF2B5EF4-FFF2-40B4-BE49-F238E27FC236}">
                <a16:creationId xmlns:a16="http://schemas.microsoft.com/office/drawing/2014/main" id="{D3A10972-6398-F74F-7D88-67FBD50F7C53}"/>
              </a:ext>
            </a:extLst>
          </p:cNvPr>
          <p:cNvSpPr/>
          <p:nvPr/>
        </p:nvSpPr>
        <p:spPr>
          <a:xfrm flipH="1">
            <a:off x="4603172" y="-1"/>
            <a:ext cx="1662544" cy="6857989"/>
          </a:xfrm>
          <a:prstGeom prst="flowChartOnlineStorag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Data Science Tools: What's Their Role and Why Are They Important?">
            <a:extLst>
              <a:ext uri="{FF2B5EF4-FFF2-40B4-BE49-F238E27FC236}">
                <a16:creationId xmlns:a16="http://schemas.microsoft.com/office/drawing/2014/main" id="{F1BC5F8F-FA82-6C35-3057-18FFA017A75A}"/>
              </a:ext>
            </a:extLst>
          </p:cNvPr>
          <p:cNvPicPr>
            <a:picLocks noChangeAspect="1"/>
          </p:cNvPicPr>
          <p:nvPr/>
        </p:nvPicPr>
        <p:blipFill>
          <a:blip r:embed="rId3"/>
          <a:stretch>
            <a:fillRect/>
          </a:stretch>
        </p:blipFill>
        <p:spPr>
          <a:xfrm>
            <a:off x="7034646" y="1885943"/>
            <a:ext cx="3896591" cy="3086100"/>
          </a:xfrm>
          <a:prstGeom prst="rect">
            <a:avLst/>
          </a:prstGeom>
        </p:spPr>
      </p:pic>
    </p:spTree>
    <p:extLst>
      <p:ext uri="{BB962C8B-B14F-4D97-AF65-F5344CB8AC3E}">
        <p14:creationId xmlns:p14="http://schemas.microsoft.com/office/powerpoint/2010/main" val="3463830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9EC8DD-6082-C547-6337-09ACF06D1CDA}"/>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Blue Powerpoint Background Images – Browse 3,858,132 Stock Photos, Vectors,  and Video | Adobe Stock">
            <a:extLst>
              <a:ext uri="{FF2B5EF4-FFF2-40B4-BE49-F238E27FC236}">
                <a16:creationId xmlns:a16="http://schemas.microsoft.com/office/drawing/2014/main" id="{9618E48A-0203-3602-B3AA-AE26AFB81FD7}"/>
              </a:ext>
            </a:extLst>
          </p:cNvPr>
          <p:cNvPicPr>
            <a:picLocks noChangeAspect="1"/>
          </p:cNvPicPr>
          <p:nvPr/>
        </p:nvPicPr>
        <p:blipFill>
          <a:blip r:embed="rId2"/>
          <a:srcRect l="8060" r="21156"/>
          <a:stretch>
            <a:fillRect/>
          </a:stretch>
        </p:blipFill>
        <p:spPr>
          <a:xfrm>
            <a:off x="3523486" y="10"/>
            <a:ext cx="8668512" cy="6857990"/>
          </a:xfrm>
          <a:prstGeom prst="rect">
            <a:avLst/>
          </a:prstGeom>
        </p:spPr>
      </p:pic>
      <p:sp>
        <p:nvSpPr>
          <p:cNvPr id="17" name="Rectangle 16">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86CC28-5105-CE82-4CA7-74B74973F011}"/>
              </a:ext>
            </a:extLst>
          </p:cNvPr>
          <p:cNvSpPr>
            <a:spLocks noGrp="1"/>
          </p:cNvSpPr>
          <p:nvPr>
            <p:ph type="title"/>
          </p:nvPr>
        </p:nvSpPr>
        <p:spPr>
          <a:xfrm>
            <a:off x="371094" y="1161288"/>
            <a:ext cx="3438144" cy="349504"/>
          </a:xfrm>
        </p:spPr>
        <p:txBody>
          <a:bodyPr anchor="b">
            <a:normAutofit fontScale="90000"/>
          </a:bodyPr>
          <a:lstStyle/>
          <a:p>
            <a:r>
              <a:rPr lang="en-IN" sz="2800" dirty="0"/>
              <a:t>Machine Learning</a:t>
            </a:r>
          </a:p>
        </p:txBody>
      </p:sp>
      <p:sp>
        <p:nvSpPr>
          <p:cNvPr id="19" name="Rectangle 1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4F9053A8-4DB5-9E7F-0511-F951C78AD5C2}"/>
              </a:ext>
            </a:extLst>
          </p:cNvPr>
          <p:cNvSpPr>
            <a:spLocks noGrp="1"/>
          </p:cNvSpPr>
          <p:nvPr>
            <p:ph idx="1"/>
          </p:nvPr>
        </p:nvSpPr>
        <p:spPr>
          <a:xfrm>
            <a:off x="1122252" y="3072120"/>
            <a:ext cx="5373971" cy="1481791"/>
          </a:xfrm>
        </p:spPr>
        <p:txBody>
          <a:bodyPr anchor="t">
            <a:normAutofit/>
          </a:bodyPr>
          <a:lstStyle/>
          <a:p>
            <a:pPr marL="0" indent="0">
              <a:buNone/>
            </a:pPr>
            <a:r>
              <a:rPr lang="en-IN" sz="1800" dirty="0"/>
              <a:t>Machine Learning is used to identify whether the driver is awake or drowsy. The model learns from the training data and predicts the driver's condition based on eye movements and eye closure.</a:t>
            </a:r>
            <a:endParaRPr lang="en-US" sz="1700" dirty="0"/>
          </a:p>
        </p:txBody>
      </p:sp>
      <p:pic>
        <p:nvPicPr>
          <p:cNvPr id="8" name="Picture 7" descr="AI &amp; Machine Learning - Apple Developer">
            <a:extLst>
              <a:ext uri="{FF2B5EF4-FFF2-40B4-BE49-F238E27FC236}">
                <a16:creationId xmlns:a16="http://schemas.microsoft.com/office/drawing/2014/main" id="{FE23590C-250C-F509-88A2-C7D6896727FE}"/>
              </a:ext>
            </a:extLst>
          </p:cNvPr>
          <p:cNvPicPr>
            <a:picLocks noChangeAspect="1"/>
          </p:cNvPicPr>
          <p:nvPr/>
        </p:nvPicPr>
        <p:blipFill>
          <a:blip r:embed="rId3"/>
          <a:stretch>
            <a:fillRect/>
          </a:stretch>
        </p:blipFill>
        <p:spPr>
          <a:xfrm>
            <a:off x="8010166" y="1885950"/>
            <a:ext cx="3492874" cy="3086100"/>
          </a:xfrm>
          <a:prstGeom prst="rect">
            <a:avLst/>
          </a:prstGeom>
        </p:spPr>
      </p:pic>
    </p:spTree>
    <p:extLst>
      <p:ext uri="{BB962C8B-B14F-4D97-AF65-F5344CB8AC3E}">
        <p14:creationId xmlns:p14="http://schemas.microsoft.com/office/powerpoint/2010/main" val="4029108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55456-46CD-4126-2097-3E8D8245C57B}"/>
            </a:ext>
          </a:extLst>
        </p:cNvPr>
        <p:cNvGrpSpPr/>
        <p:nvPr/>
      </p:nvGrpSpPr>
      <p:grpSpPr>
        <a:xfrm>
          <a:off x="0" y="0"/>
          <a:ext cx="0" cy="0"/>
          <a:chOff x="0" y="0"/>
          <a:chExt cx="0" cy="0"/>
        </a:xfrm>
      </p:grpSpPr>
      <p:pic>
        <p:nvPicPr>
          <p:cNvPr id="6" name="Content Placeholder 5" descr="Blue Powerpoint Background Images – Browse 3,858,132 Stock Photos, Vectors,  and Video | Adobe Stock">
            <a:extLst>
              <a:ext uri="{FF2B5EF4-FFF2-40B4-BE49-F238E27FC236}">
                <a16:creationId xmlns:a16="http://schemas.microsoft.com/office/drawing/2014/main" id="{452B1BD4-61B0-5FEA-7DEB-03A3400DBCAD}"/>
              </a:ext>
            </a:extLst>
          </p:cNvPr>
          <p:cNvPicPr>
            <a:picLocks noChangeAspect="1"/>
          </p:cNvPicPr>
          <p:nvPr/>
        </p:nvPicPr>
        <p:blipFill>
          <a:blip r:embed="rId2"/>
          <a:srcRect l="8060" r="21156"/>
          <a:stretch>
            <a:fillRect/>
          </a:stretch>
        </p:blipFill>
        <p:spPr>
          <a:xfrm>
            <a:off x="-60232" y="0"/>
            <a:ext cx="7880535" cy="6857990"/>
          </a:xfrm>
          <a:prstGeom prst="rect">
            <a:avLst/>
          </a:prstGeom>
        </p:spPr>
      </p:pic>
      <p:sp>
        <p:nvSpPr>
          <p:cNvPr id="2" name="Title 1">
            <a:extLst>
              <a:ext uri="{FF2B5EF4-FFF2-40B4-BE49-F238E27FC236}">
                <a16:creationId xmlns:a16="http://schemas.microsoft.com/office/drawing/2014/main" id="{76B87179-0787-4B0A-9DA0-6B6E0F3AB87D}"/>
              </a:ext>
            </a:extLst>
          </p:cNvPr>
          <p:cNvSpPr>
            <a:spLocks noGrp="1"/>
          </p:cNvSpPr>
          <p:nvPr>
            <p:ph type="title"/>
          </p:nvPr>
        </p:nvSpPr>
        <p:spPr>
          <a:xfrm>
            <a:off x="8116064" y="540327"/>
            <a:ext cx="3990109" cy="779318"/>
          </a:xfrm>
        </p:spPr>
        <p:txBody>
          <a:bodyPr anchor="b">
            <a:normAutofit/>
          </a:bodyPr>
          <a:lstStyle/>
          <a:p>
            <a:r>
              <a:rPr lang="en-IN" sz="3200" dirty="0"/>
              <a:t>Artificial Intelligence</a:t>
            </a:r>
          </a:p>
        </p:txBody>
      </p:sp>
      <p:sp>
        <p:nvSpPr>
          <p:cNvPr id="10" name="Content Placeholder 9">
            <a:extLst>
              <a:ext uri="{FF2B5EF4-FFF2-40B4-BE49-F238E27FC236}">
                <a16:creationId xmlns:a16="http://schemas.microsoft.com/office/drawing/2014/main" id="{66F3DB6E-988E-E466-2C05-9330C1A9B029}"/>
              </a:ext>
            </a:extLst>
          </p:cNvPr>
          <p:cNvSpPr>
            <a:spLocks noGrp="1"/>
          </p:cNvSpPr>
          <p:nvPr>
            <p:ph idx="1"/>
          </p:nvPr>
        </p:nvSpPr>
        <p:spPr>
          <a:xfrm>
            <a:off x="7963665" y="2510236"/>
            <a:ext cx="3438906" cy="3207258"/>
          </a:xfrm>
        </p:spPr>
        <p:txBody>
          <a:bodyPr anchor="t">
            <a:normAutofit/>
          </a:bodyPr>
          <a:lstStyle/>
          <a:p>
            <a:pPr marL="0" indent="0">
              <a:buNone/>
            </a:pPr>
            <a:r>
              <a:rPr lang="en-IN" sz="1800" dirty="0"/>
              <a:t>Artificial Intelligence helps the system make decisions in real time. The webcam continuously captures the driver's face, detects the eyes, and checks whether they remain closed for a certain period. If drowsiness is detected, the system immediately activates an alarm.</a:t>
            </a:r>
          </a:p>
          <a:p>
            <a:pPr marL="0" indent="0">
              <a:buNone/>
            </a:pPr>
            <a:endParaRPr lang="en-US" sz="1700" dirty="0"/>
          </a:p>
        </p:txBody>
      </p:sp>
      <p:sp>
        <p:nvSpPr>
          <p:cNvPr id="4" name="Flowchart: Delay 3">
            <a:extLst>
              <a:ext uri="{FF2B5EF4-FFF2-40B4-BE49-F238E27FC236}">
                <a16:creationId xmlns:a16="http://schemas.microsoft.com/office/drawing/2014/main" id="{5A1422B7-3A96-8C34-B0F6-59AEE1A7825B}"/>
              </a:ext>
            </a:extLst>
          </p:cNvPr>
          <p:cNvSpPr/>
          <p:nvPr/>
        </p:nvSpPr>
        <p:spPr>
          <a:xfrm flipH="1">
            <a:off x="4253347" y="0"/>
            <a:ext cx="3710318" cy="6857990"/>
          </a:xfrm>
          <a:prstGeom prst="flowChartDelay">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descr="How to Enhance Presentation Using AI PowerPoint Template: A Quick Guide">
            <a:extLst>
              <a:ext uri="{FF2B5EF4-FFF2-40B4-BE49-F238E27FC236}">
                <a16:creationId xmlns:a16="http://schemas.microsoft.com/office/drawing/2014/main" id="{EC560F83-0BD4-50E3-F576-A9DF1CAF64F3}"/>
              </a:ext>
            </a:extLst>
          </p:cNvPr>
          <p:cNvPicPr>
            <a:picLocks noChangeAspect="1"/>
          </p:cNvPicPr>
          <p:nvPr/>
        </p:nvPicPr>
        <p:blipFill>
          <a:blip r:embed="rId3"/>
          <a:stretch>
            <a:fillRect/>
          </a:stretch>
        </p:blipFill>
        <p:spPr>
          <a:xfrm>
            <a:off x="789429" y="1917811"/>
            <a:ext cx="3158837" cy="2363243"/>
          </a:xfrm>
          <a:prstGeom prst="rect">
            <a:avLst/>
          </a:prstGeom>
        </p:spPr>
      </p:pic>
    </p:spTree>
    <p:extLst>
      <p:ext uri="{BB962C8B-B14F-4D97-AF65-F5344CB8AC3E}">
        <p14:creationId xmlns:p14="http://schemas.microsoft.com/office/powerpoint/2010/main" val="551009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C7AB5-27CF-3E89-CE08-04700198A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47462-3C71-EB70-3812-493421B97DAF}"/>
              </a:ext>
            </a:extLst>
          </p:cNvPr>
          <p:cNvSpPr>
            <a:spLocks noGrp="1"/>
          </p:cNvSpPr>
          <p:nvPr>
            <p:ph type="title"/>
          </p:nvPr>
        </p:nvSpPr>
        <p:spPr>
          <a:xfrm>
            <a:off x="187036" y="325370"/>
            <a:ext cx="4821646" cy="713722"/>
          </a:xfrm>
        </p:spPr>
        <p:txBody>
          <a:bodyPr anchor="b">
            <a:normAutofit/>
          </a:bodyPr>
          <a:lstStyle/>
          <a:p>
            <a:r>
              <a:rPr lang="en-IN" sz="3500" dirty="0">
                <a:latin typeface="Cambria" panose="02040503050406030204" pitchFamily="18" charset="0"/>
                <a:ea typeface="Cambria" panose="02040503050406030204" pitchFamily="18" charset="0"/>
              </a:rPr>
              <a:t>Working Process</a:t>
            </a:r>
          </a:p>
        </p:txBody>
      </p:sp>
      <p:sp>
        <p:nvSpPr>
          <p:cNvPr id="3" name="Content Placeholder 2">
            <a:extLst>
              <a:ext uri="{FF2B5EF4-FFF2-40B4-BE49-F238E27FC236}">
                <a16:creationId xmlns:a16="http://schemas.microsoft.com/office/drawing/2014/main" id="{870EF13F-06E2-E95D-ADC1-69F141128EAB}"/>
              </a:ext>
            </a:extLst>
          </p:cNvPr>
          <p:cNvSpPr>
            <a:spLocks noGrp="1"/>
          </p:cNvSpPr>
          <p:nvPr>
            <p:ph idx="1"/>
          </p:nvPr>
        </p:nvSpPr>
        <p:spPr>
          <a:xfrm>
            <a:off x="765093" y="1714500"/>
            <a:ext cx="4243589" cy="3761509"/>
          </a:xfrm>
        </p:spPr>
        <p:txBody>
          <a:bodyPr>
            <a:normAutofit/>
          </a:bodyPr>
          <a:lstStyle/>
          <a:p>
            <a:r>
              <a:rPr lang="en-IN" sz="2400" dirty="0">
                <a:latin typeface="Calibri Light" panose="020F0302020204030204" pitchFamily="34" charset="0"/>
                <a:ea typeface="Calibri Light" panose="020F0302020204030204" pitchFamily="34" charset="0"/>
                <a:cs typeface="Calibri Light" panose="020F0302020204030204" pitchFamily="34" charset="0"/>
              </a:rPr>
              <a:t>Start the webcam</a:t>
            </a:r>
          </a:p>
          <a:p>
            <a:r>
              <a:rPr lang="en-IN" sz="2400" dirty="0">
                <a:latin typeface="Calibri Light" panose="020F0302020204030204" pitchFamily="34" charset="0"/>
                <a:ea typeface="Calibri Light" panose="020F0302020204030204" pitchFamily="34" charset="0"/>
                <a:cs typeface="Calibri Light" panose="020F0302020204030204" pitchFamily="34" charset="0"/>
              </a:rPr>
              <a:t>Detect the driver's face</a:t>
            </a:r>
          </a:p>
          <a:p>
            <a:r>
              <a:rPr lang="en-IN" sz="2400" dirty="0">
                <a:latin typeface="Calibri Light" panose="020F0302020204030204" pitchFamily="34" charset="0"/>
                <a:ea typeface="Calibri Light" panose="020F0302020204030204" pitchFamily="34" charset="0"/>
                <a:cs typeface="Calibri Light" panose="020F0302020204030204" pitchFamily="34" charset="0"/>
              </a:rPr>
              <a:t>Detect both eyes</a:t>
            </a:r>
          </a:p>
          <a:p>
            <a:r>
              <a:rPr lang="en-IN" sz="2400" dirty="0">
                <a:latin typeface="Calibri Light" panose="020F0302020204030204" pitchFamily="34" charset="0"/>
                <a:ea typeface="Calibri Light" panose="020F0302020204030204" pitchFamily="34" charset="0"/>
                <a:cs typeface="Calibri Light" panose="020F0302020204030204" pitchFamily="34" charset="0"/>
              </a:rPr>
              <a:t>Measure eye closure</a:t>
            </a:r>
          </a:p>
          <a:p>
            <a:r>
              <a:rPr lang="en-IN" sz="2400" dirty="0">
                <a:latin typeface="Calibri Light" panose="020F0302020204030204" pitchFamily="34" charset="0"/>
                <a:ea typeface="Calibri Light" panose="020F0302020204030204" pitchFamily="34" charset="0"/>
                <a:cs typeface="Calibri Light" panose="020F0302020204030204" pitchFamily="34" charset="0"/>
              </a:rPr>
              <a:t>Check whether the driver is awake or drowsy</a:t>
            </a:r>
          </a:p>
          <a:p>
            <a:r>
              <a:rPr lang="en-IN" sz="2400" dirty="0">
                <a:latin typeface="Calibri Light" panose="020F0302020204030204" pitchFamily="34" charset="0"/>
                <a:ea typeface="Calibri Light" panose="020F0302020204030204" pitchFamily="34" charset="0"/>
                <a:cs typeface="Calibri Light" panose="020F0302020204030204" pitchFamily="34" charset="0"/>
              </a:rPr>
              <a:t>If drowsiness is detected, an alarm is played</a:t>
            </a:r>
          </a:p>
          <a:p>
            <a:endParaRPr lang="en-IN" sz="2200" dirty="0"/>
          </a:p>
        </p:txBody>
      </p:sp>
      <p:pic>
        <p:nvPicPr>
          <p:cNvPr id="4" name="Picture 3" descr="Blue Powerpoint Background Images – Browse 3,858,132 Stock Photos, Vectors,  and Video | Adobe Stock">
            <a:extLst>
              <a:ext uri="{FF2B5EF4-FFF2-40B4-BE49-F238E27FC236}">
                <a16:creationId xmlns:a16="http://schemas.microsoft.com/office/drawing/2014/main" id="{EBA6D3F0-2C23-B040-5955-54FD8B6D17B0}"/>
              </a:ext>
            </a:extLst>
          </p:cNvPr>
          <p:cNvPicPr>
            <a:picLocks noChangeAspect="1"/>
          </p:cNvPicPr>
          <p:nvPr/>
        </p:nvPicPr>
        <p:blipFill>
          <a:blip r:embed="rId2"/>
          <a:srcRect l="37048" r="6782"/>
          <a:stretch>
            <a:fillRect/>
          </a:stretch>
        </p:blipFill>
        <p:spPr>
          <a:xfrm>
            <a:off x="5313225"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12" name="Picture 11">
            <a:extLst>
              <a:ext uri="{FF2B5EF4-FFF2-40B4-BE49-F238E27FC236}">
                <a16:creationId xmlns:a16="http://schemas.microsoft.com/office/drawing/2014/main" id="{DA241B08-6F99-805E-FCFF-C6F098480F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5323" y="1548240"/>
            <a:ext cx="4906677" cy="3761509"/>
          </a:xfrm>
          <a:prstGeom prst="rect">
            <a:avLst/>
          </a:prstGeom>
        </p:spPr>
      </p:pic>
    </p:spTree>
    <p:extLst>
      <p:ext uri="{BB962C8B-B14F-4D97-AF65-F5344CB8AC3E}">
        <p14:creationId xmlns:p14="http://schemas.microsoft.com/office/powerpoint/2010/main" val="1567558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342DE-B1DF-786C-49E9-D52C1EC41CD9}"/>
            </a:ext>
          </a:extLst>
        </p:cNvPr>
        <p:cNvGrpSpPr/>
        <p:nvPr/>
      </p:nvGrpSpPr>
      <p:grpSpPr>
        <a:xfrm>
          <a:off x="0" y="0"/>
          <a:ext cx="0" cy="0"/>
          <a:chOff x="0" y="0"/>
          <a:chExt cx="0" cy="0"/>
        </a:xfrm>
      </p:grpSpPr>
      <p:pic>
        <p:nvPicPr>
          <p:cNvPr id="6" name="Content Placeholder 5" descr="Blue Powerpoint Background Images – Browse 3,858,132 Stock Photos, Vectors,  and Video | Adobe Stock">
            <a:extLst>
              <a:ext uri="{FF2B5EF4-FFF2-40B4-BE49-F238E27FC236}">
                <a16:creationId xmlns:a16="http://schemas.microsoft.com/office/drawing/2014/main" id="{D646F426-9BB4-C0DA-691A-252F25DFB76C}"/>
              </a:ext>
            </a:extLst>
          </p:cNvPr>
          <p:cNvPicPr>
            <a:picLocks noChangeAspect="1"/>
          </p:cNvPicPr>
          <p:nvPr/>
        </p:nvPicPr>
        <p:blipFill>
          <a:blip r:embed="rId2"/>
          <a:srcRect l="18638" r="10578"/>
          <a:stretch>
            <a:fillRect/>
          </a:stretch>
        </p:blipFill>
        <p:spPr>
          <a:xfrm>
            <a:off x="4254315" y="-10"/>
            <a:ext cx="7937685" cy="6857990"/>
          </a:xfrm>
          <a:prstGeom prst="rect">
            <a:avLst/>
          </a:prstGeom>
        </p:spPr>
      </p:pic>
      <p:sp>
        <p:nvSpPr>
          <p:cNvPr id="2" name="Title 1">
            <a:extLst>
              <a:ext uri="{FF2B5EF4-FFF2-40B4-BE49-F238E27FC236}">
                <a16:creationId xmlns:a16="http://schemas.microsoft.com/office/drawing/2014/main" id="{0E3DDC7E-FC1F-F5FA-85A9-28662302B94F}"/>
              </a:ext>
            </a:extLst>
          </p:cNvPr>
          <p:cNvSpPr>
            <a:spLocks noGrp="1"/>
          </p:cNvSpPr>
          <p:nvPr>
            <p:ph type="title"/>
          </p:nvPr>
        </p:nvSpPr>
        <p:spPr>
          <a:xfrm>
            <a:off x="371856" y="444315"/>
            <a:ext cx="3438144" cy="761030"/>
          </a:xfrm>
        </p:spPr>
        <p:txBody>
          <a:bodyPr anchor="b">
            <a:normAutofit/>
          </a:bodyPr>
          <a:lstStyle/>
          <a:p>
            <a:r>
              <a:rPr lang="en-IN" sz="2800" dirty="0">
                <a:latin typeface="Cambria" panose="02040503050406030204" pitchFamily="18" charset="0"/>
                <a:ea typeface="Cambria" panose="02040503050406030204" pitchFamily="18" charset="0"/>
              </a:rPr>
              <a:t>Applications</a:t>
            </a:r>
          </a:p>
        </p:txBody>
      </p:sp>
      <p:sp>
        <p:nvSpPr>
          <p:cNvPr id="10" name="Content Placeholder 9">
            <a:extLst>
              <a:ext uri="{FF2B5EF4-FFF2-40B4-BE49-F238E27FC236}">
                <a16:creationId xmlns:a16="http://schemas.microsoft.com/office/drawing/2014/main" id="{27819E7C-FB41-A0E2-65BB-280EFFCF37C1}"/>
              </a:ext>
            </a:extLst>
          </p:cNvPr>
          <p:cNvSpPr>
            <a:spLocks noGrp="1"/>
          </p:cNvSpPr>
          <p:nvPr>
            <p:ph idx="1"/>
          </p:nvPr>
        </p:nvSpPr>
        <p:spPr>
          <a:xfrm>
            <a:off x="1181584" y="2171701"/>
            <a:ext cx="3438906" cy="4138076"/>
          </a:xfrm>
        </p:spPr>
        <p:txBody>
          <a:bodyPr anchor="t">
            <a:normAutofit/>
          </a:bodyPr>
          <a:lstStyle/>
          <a:p>
            <a:r>
              <a:rPr lang="en-IN" sz="1800" dirty="0"/>
              <a:t>Cars </a:t>
            </a:r>
          </a:p>
          <a:p>
            <a:r>
              <a:rPr lang="en-IN" sz="1800" dirty="0"/>
              <a:t>Buses </a:t>
            </a:r>
          </a:p>
          <a:p>
            <a:r>
              <a:rPr lang="en-IN" sz="1800" dirty="0"/>
              <a:t>Trucks </a:t>
            </a:r>
          </a:p>
          <a:p>
            <a:r>
              <a:rPr lang="en-IN" sz="1800" dirty="0"/>
              <a:t>Taxi services </a:t>
            </a:r>
          </a:p>
          <a:p>
            <a:r>
              <a:rPr lang="en-IN" sz="1800" dirty="0"/>
              <a:t>Public transport </a:t>
            </a:r>
          </a:p>
          <a:p>
            <a:r>
              <a:rPr lang="en-IN" sz="1800" dirty="0"/>
              <a:t>Smart vehicles </a:t>
            </a:r>
          </a:p>
          <a:p>
            <a:pPr marL="0" indent="0">
              <a:buNone/>
            </a:pPr>
            <a:endParaRPr lang="en-US" sz="1700" dirty="0"/>
          </a:p>
        </p:txBody>
      </p:sp>
      <p:sp>
        <p:nvSpPr>
          <p:cNvPr id="3" name="Flowchart: Stored Data 2">
            <a:extLst>
              <a:ext uri="{FF2B5EF4-FFF2-40B4-BE49-F238E27FC236}">
                <a16:creationId xmlns:a16="http://schemas.microsoft.com/office/drawing/2014/main" id="{B284B2DC-8001-700E-A51B-7AF7CFFF4DE7}"/>
              </a:ext>
            </a:extLst>
          </p:cNvPr>
          <p:cNvSpPr/>
          <p:nvPr/>
        </p:nvSpPr>
        <p:spPr>
          <a:xfrm>
            <a:off x="3611810" y="-20"/>
            <a:ext cx="3277085" cy="6858000"/>
          </a:xfrm>
          <a:prstGeom prst="flowChartOnlineStorag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1" name="Picture 10">
            <a:extLst>
              <a:ext uri="{FF2B5EF4-FFF2-40B4-BE49-F238E27FC236}">
                <a16:creationId xmlns:a16="http://schemas.microsoft.com/office/drawing/2014/main" id="{7C98F029-DD7A-17C0-9D65-2C4B18E31F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3210" y="1127393"/>
            <a:ext cx="4036613" cy="4182361"/>
          </a:xfrm>
          <a:prstGeom prst="rect">
            <a:avLst/>
          </a:prstGeom>
        </p:spPr>
      </p:pic>
    </p:spTree>
    <p:extLst>
      <p:ext uri="{BB962C8B-B14F-4D97-AF65-F5344CB8AC3E}">
        <p14:creationId xmlns:p14="http://schemas.microsoft.com/office/powerpoint/2010/main" val="536552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71083-77A5-89A8-8244-D695B460D9CB}"/>
            </a:ext>
          </a:extLst>
        </p:cNvPr>
        <p:cNvGrpSpPr/>
        <p:nvPr/>
      </p:nvGrpSpPr>
      <p:grpSpPr>
        <a:xfrm>
          <a:off x="0" y="0"/>
          <a:ext cx="0" cy="0"/>
          <a:chOff x="0" y="0"/>
          <a:chExt cx="0" cy="0"/>
        </a:xfrm>
      </p:grpSpPr>
      <p:pic>
        <p:nvPicPr>
          <p:cNvPr id="6" name="Content Placeholder 5" descr="Blue Powerpoint Background Images – Browse 3,858,132 Stock Photos, Vectors,  and Video | Adobe Stock">
            <a:extLst>
              <a:ext uri="{FF2B5EF4-FFF2-40B4-BE49-F238E27FC236}">
                <a16:creationId xmlns:a16="http://schemas.microsoft.com/office/drawing/2014/main" id="{997019BD-47EB-F175-CE9C-FBF3D0A395E0}"/>
              </a:ext>
            </a:extLst>
          </p:cNvPr>
          <p:cNvPicPr>
            <a:picLocks noChangeAspect="1"/>
          </p:cNvPicPr>
          <p:nvPr/>
        </p:nvPicPr>
        <p:blipFill>
          <a:blip r:embed="rId2"/>
          <a:srcRect l="18638" r="10578"/>
          <a:stretch>
            <a:fillRect/>
          </a:stretch>
        </p:blipFill>
        <p:spPr>
          <a:xfrm>
            <a:off x="5428489" y="10"/>
            <a:ext cx="6763512" cy="6857990"/>
          </a:xfrm>
          <a:prstGeom prst="rect">
            <a:avLst/>
          </a:prstGeom>
        </p:spPr>
      </p:pic>
      <p:sp>
        <p:nvSpPr>
          <p:cNvPr id="2" name="Title 1">
            <a:extLst>
              <a:ext uri="{FF2B5EF4-FFF2-40B4-BE49-F238E27FC236}">
                <a16:creationId xmlns:a16="http://schemas.microsoft.com/office/drawing/2014/main" id="{172DD21E-4857-3169-31A9-03423E5386C5}"/>
              </a:ext>
            </a:extLst>
          </p:cNvPr>
          <p:cNvSpPr>
            <a:spLocks noGrp="1"/>
          </p:cNvSpPr>
          <p:nvPr>
            <p:ph type="title"/>
          </p:nvPr>
        </p:nvSpPr>
        <p:spPr>
          <a:xfrm>
            <a:off x="371856" y="444315"/>
            <a:ext cx="3438144" cy="761030"/>
          </a:xfrm>
        </p:spPr>
        <p:txBody>
          <a:bodyPr anchor="b">
            <a:normAutofit/>
          </a:bodyPr>
          <a:lstStyle/>
          <a:p>
            <a:r>
              <a:rPr lang="en-IN" sz="2800" dirty="0"/>
              <a:t>Conclusion</a:t>
            </a:r>
            <a:endParaRPr lang="en-IN" sz="2800" dirty="0">
              <a:latin typeface="Cambria" panose="02040503050406030204" pitchFamily="18" charset="0"/>
              <a:ea typeface="Cambria" panose="02040503050406030204" pitchFamily="18" charset="0"/>
            </a:endParaRPr>
          </a:p>
        </p:txBody>
      </p:sp>
      <p:sp>
        <p:nvSpPr>
          <p:cNvPr id="10" name="Content Placeholder 9">
            <a:extLst>
              <a:ext uri="{FF2B5EF4-FFF2-40B4-BE49-F238E27FC236}">
                <a16:creationId xmlns:a16="http://schemas.microsoft.com/office/drawing/2014/main" id="{85D81340-3D96-0BC1-DE9D-C2C67FAAB394}"/>
              </a:ext>
            </a:extLst>
          </p:cNvPr>
          <p:cNvSpPr>
            <a:spLocks noGrp="1"/>
          </p:cNvSpPr>
          <p:nvPr>
            <p:ph idx="1"/>
          </p:nvPr>
        </p:nvSpPr>
        <p:spPr>
          <a:xfrm>
            <a:off x="249383" y="2475622"/>
            <a:ext cx="4831772" cy="2358738"/>
          </a:xfrm>
        </p:spPr>
        <p:txBody>
          <a:bodyPr anchor="t">
            <a:normAutofit/>
          </a:bodyPr>
          <a:lstStyle/>
          <a:p>
            <a:pPr marL="0" indent="0">
              <a:buNone/>
            </a:pPr>
            <a:r>
              <a:rPr lang="en-IN" sz="1800" dirty="0"/>
              <a:t>This project demonstrates how Data Science, Machine Learning, and Artificial Intelligence can work together to improve road safety. </a:t>
            </a:r>
          </a:p>
          <a:p>
            <a:pPr marL="0" indent="0">
              <a:buNone/>
            </a:pPr>
            <a:r>
              <a:rPr lang="en-IN" sz="1800" dirty="0"/>
              <a:t>The system is simple, effective, and capable of detecting driver drowsiness in real time, helping reduce accidents caused by fatigue.</a:t>
            </a:r>
            <a:endParaRPr lang="en-US" sz="1700" dirty="0"/>
          </a:p>
        </p:txBody>
      </p:sp>
      <p:sp>
        <p:nvSpPr>
          <p:cNvPr id="3" name="Flowchart: Stored Data 2">
            <a:extLst>
              <a:ext uri="{FF2B5EF4-FFF2-40B4-BE49-F238E27FC236}">
                <a16:creationId xmlns:a16="http://schemas.microsoft.com/office/drawing/2014/main" id="{A32427E2-7FD5-D860-6C81-36DF8A64B0F0}"/>
              </a:ext>
            </a:extLst>
          </p:cNvPr>
          <p:cNvSpPr/>
          <p:nvPr/>
        </p:nvSpPr>
        <p:spPr>
          <a:xfrm>
            <a:off x="4905375" y="0"/>
            <a:ext cx="3277085" cy="6858000"/>
          </a:xfrm>
          <a:prstGeom prst="flowChartOnlineStorag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4" name="Picture 3" descr="Conclusion Images - Free Download on Magnific (formerly Freepik)">
            <a:extLst>
              <a:ext uri="{FF2B5EF4-FFF2-40B4-BE49-F238E27FC236}">
                <a16:creationId xmlns:a16="http://schemas.microsoft.com/office/drawing/2014/main" id="{08E10656-7091-E8ED-0B58-3D00011152F7}"/>
              </a:ext>
            </a:extLst>
          </p:cNvPr>
          <p:cNvPicPr>
            <a:picLocks noChangeAspect="1"/>
          </p:cNvPicPr>
          <p:nvPr/>
        </p:nvPicPr>
        <p:blipFill>
          <a:blip r:embed="rId3"/>
          <a:stretch>
            <a:fillRect/>
          </a:stretch>
        </p:blipFill>
        <p:spPr>
          <a:xfrm>
            <a:off x="8182460" y="1896566"/>
            <a:ext cx="4009540" cy="2800125"/>
          </a:xfrm>
          <a:prstGeom prst="rect">
            <a:avLst/>
          </a:prstGeom>
        </p:spPr>
      </p:pic>
    </p:spTree>
    <p:extLst>
      <p:ext uri="{BB962C8B-B14F-4D97-AF65-F5344CB8AC3E}">
        <p14:creationId xmlns:p14="http://schemas.microsoft.com/office/powerpoint/2010/main" val="1675522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623AB-9229-436D-0431-A4E5018D39E8}"/>
            </a:ext>
          </a:extLst>
        </p:cNvPr>
        <p:cNvGrpSpPr/>
        <p:nvPr/>
      </p:nvGrpSpPr>
      <p:grpSpPr>
        <a:xfrm>
          <a:off x="0" y="0"/>
          <a:ext cx="0" cy="0"/>
          <a:chOff x="0" y="0"/>
          <a:chExt cx="0" cy="0"/>
        </a:xfrm>
      </p:grpSpPr>
      <p:pic>
        <p:nvPicPr>
          <p:cNvPr id="6" name="Content Placeholder 5" descr="Blue Powerpoint Background Images – Browse 3,858,132 Stock Photos, Vectors,  and Video | Adobe Stock">
            <a:extLst>
              <a:ext uri="{FF2B5EF4-FFF2-40B4-BE49-F238E27FC236}">
                <a16:creationId xmlns:a16="http://schemas.microsoft.com/office/drawing/2014/main" id="{C589A928-0278-6A46-C191-0E8FF3FD8FA1}"/>
              </a:ext>
            </a:extLst>
          </p:cNvPr>
          <p:cNvPicPr>
            <a:picLocks noChangeAspect="1"/>
          </p:cNvPicPr>
          <p:nvPr/>
        </p:nvPicPr>
        <p:blipFill>
          <a:blip r:embed="rId2"/>
          <a:srcRect l="29216"/>
          <a:stretch>
            <a:fillRect/>
          </a:stretch>
        </p:blipFill>
        <p:spPr>
          <a:xfrm>
            <a:off x="19" y="0"/>
            <a:ext cx="12191981" cy="6857990"/>
          </a:xfrm>
          <a:prstGeom prst="rect">
            <a:avLst/>
          </a:prstGeom>
        </p:spPr>
      </p:pic>
      <p:sp>
        <p:nvSpPr>
          <p:cNvPr id="2" name="Title 1">
            <a:extLst>
              <a:ext uri="{FF2B5EF4-FFF2-40B4-BE49-F238E27FC236}">
                <a16:creationId xmlns:a16="http://schemas.microsoft.com/office/drawing/2014/main" id="{7992CD2C-6F31-AEA4-6854-EC29F0E9033D}"/>
              </a:ext>
            </a:extLst>
          </p:cNvPr>
          <p:cNvSpPr>
            <a:spLocks noGrp="1"/>
          </p:cNvSpPr>
          <p:nvPr>
            <p:ph type="title"/>
          </p:nvPr>
        </p:nvSpPr>
        <p:spPr>
          <a:xfrm>
            <a:off x="3253531" y="2982190"/>
            <a:ext cx="8966159" cy="1049482"/>
          </a:xfrm>
        </p:spPr>
        <p:txBody>
          <a:bodyPr anchor="b">
            <a:noAutofit/>
          </a:bodyPr>
          <a:lstStyle/>
          <a:p>
            <a:r>
              <a:rPr lang="en-IN" sz="9600" b="1" dirty="0">
                <a:solidFill>
                  <a:schemeClr val="bg2">
                    <a:lumMod val="75000"/>
                  </a:schemeClr>
                </a:solidFill>
                <a:latin typeface="Segoe UI Variable Display Light" pitchFamily="2" charset="0"/>
              </a:rPr>
              <a:t>Thank You</a:t>
            </a:r>
          </a:p>
        </p:txBody>
      </p:sp>
      <p:sp>
        <p:nvSpPr>
          <p:cNvPr id="10" name="Content Placeholder 9">
            <a:extLst>
              <a:ext uri="{FF2B5EF4-FFF2-40B4-BE49-F238E27FC236}">
                <a16:creationId xmlns:a16="http://schemas.microsoft.com/office/drawing/2014/main" id="{05722FC0-9F5A-6E0F-F6D9-51AEE9E7230D}"/>
              </a:ext>
            </a:extLst>
          </p:cNvPr>
          <p:cNvSpPr>
            <a:spLocks noGrp="1"/>
          </p:cNvSpPr>
          <p:nvPr>
            <p:ph idx="1"/>
          </p:nvPr>
        </p:nvSpPr>
        <p:spPr>
          <a:xfrm>
            <a:off x="11720944" y="5683826"/>
            <a:ext cx="88431" cy="241485"/>
          </a:xfrm>
        </p:spPr>
        <p:txBody>
          <a:bodyPr anchor="t">
            <a:normAutofit fontScale="77500" lnSpcReduction="20000"/>
          </a:bodyPr>
          <a:lstStyle/>
          <a:p>
            <a:endParaRPr lang="en-US" sz="1700" dirty="0"/>
          </a:p>
        </p:txBody>
      </p:sp>
    </p:spTree>
    <p:extLst>
      <p:ext uri="{BB962C8B-B14F-4D97-AF65-F5344CB8AC3E}">
        <p14:creationId xmlns:p14="http://schemas.microsoft.com/office/powerpoint/2010/main" val="1825940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401</Words>
  <Application>Microsoft Office PowerPoint</Application>
  <PresentationFormat>Widescreen</PresentationFormat>
  <Paragraphs>51</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Aptos Display</vt:lpstr>
      <vt:lpstr>Arial</vt:lpstr>
      <vt:lpstr>Book Antiqua</vt:lpstr>
      <vt:lpstr>Calibri</vt:lpstr>
      <vt:lpstr>Calibri Light</vt:lpstr>
      <vt:lpstr>Cambria</vt:lpstr>
      <vt:lpstr>Segoe UI Variable Display Light</vt:lpstr>
      <vt:lpstr>Office Theme</vt:lpstr>
      <vt:lpstr>Driver Drowsiness Detection System</vt:lpstr>
      <vt:lpstr>Introduction</vt:lpstr>
      <vt:lpstr>Problem Statement</vt:lpstr>
      <vt:lpstr>Objectives</vt:lpstr>
      <vt:lpstr>Technologies Used </vt:lpstr>
      <vt:lpstr>Data Science</vt:lpstr>
      <vt:lpstr>Machine Learning</vt:lpstr>
      <vt:lpstr>Artificial Intelligence</vt:lpstr>
      <vt:lpstr>Working Process</vt:lpstr>
      <vt:lpstr>Applications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raginianu55@gmail.com</dc:creator>
  <cp:lastModifiedBy>raginianu55@gmail.com</cp:lastModifiedBy>
  <cp:revision>3</cp:revision>
  <dcterms:created xsi:type="dcterms:W3CDTF">2026-06-29T17:06:36Z</dcterms:created>
  <dcterms:modified xsi:type="dcterms:W3CDTF">2026-06-30T07:12:37Z</dcterms:modified>
</cp:coreProperties>
</file>